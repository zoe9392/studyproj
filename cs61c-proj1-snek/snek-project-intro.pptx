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10241C"/>
                </a:solidFill>
                <a:latin typeface="Calibri"/>
                <a:ea typeface="Calibri"/>
              </a:rPr>
              <a:t>snek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1A3A2C"/>
                </a:solidFill>
                <a:latin typeface="Calibri"/>
                <a:ea typeface="Calibri"/>
              </a:rPr>
              <a:t>CS 61C Project 1 · Code Project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A5C52"/>
                </a:solidFill>
                <a:latin typeface="Calibri"/>
                <a:ea typeface="Calibri"/>
              </a:rPr>
              <a:t>C implementation · Memory management · File I/O · Playable web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0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FE08A"/>
                </a:solidFill>
                <a:latin typeface="Calibri"/>
                <a:ea typeface="Calibri"/>
              </a:rPr>
              <a:t>UC Berkeley CS 61C style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41C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3A2C"/>
                </a:solidFill>
                <a:latin typeface="Calibri"/>
                <a:ea typeface="Calibri"/>
              </a:rPr>
              <a:t>• Project overview &amp; learning goals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3A2C"/>
                </a:solidFill>
                <a:latin typeface="Calibri"/>
                <a:ea typeface="Calibri"/>
              </a:rPr>
              <a:t>• Board representation &amp; game rules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3A2C"/>
                </a:solidFill>
                <a:latin typeface="Calibri"/>
                <a:ea typeface="Calibri"/>
              </a:rPr>
              <a:t>• Core data structures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3A2C"/>
                </a:solidFill>
                <a:latin typeface="Calibri"/>
                <a:ea typeface="Calibri"/>
              </a:rPr>
              <a:t>• C task breakdown &amp; key functions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3A2C"/>
                </a:solidFill>
                <a:latin typeface="Calibri"/>
                <a:ea typeface="Calibri"/>
              </a:rPr>
              <a:t>• Testing &amp; validation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3A2C"/>
                </a:solidFill>
                <a:latin typeface="Calibri"/>
                <a:ea typeface="Calibri"/>
              </a:rPr>
              <a:t>• Web extension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3A2C"/>
                </a:solidFill>
                <a:latin typeface="Calibri"/>
                <a:ea typeface="Calibri"/>
              </a:rPr>
              <a:t>• Repository layout &amp; how to run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3A2C"/>
                </a:solidFill>
                <a:latin typeface="Calibri"/>
                <a:ea typeface="Calibri"/>
              </a:rPr>
              <a:t>•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C52"/>
                </a:solidFill>
                <a:latin typeface="Calibri"/>
                <a:ea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41C"/>
                </a:solidFill>
                <a:latin typeface="Calibri"/>
                <a:ea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Implement playable Snake (snek) game logic in plain C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Practice pointers, heap alloc/free, 2D char boards, and file I/O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Pipeline: load board → advance one timestep → write updated board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Also includes interactive terminal play and a browser web version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In scope: C, debugging, and memory management from lectures/labs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C52"/>
                </a:solidFill>
                <a:latin typeface="Calibri"/>
                <a:ea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41C"/>
                </a:solidFill>
                <a:latin typeface="Calibri"/>
                <a:ea typeface="Calibri"/>
              </a:rPr>
              <a:t>Learning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66160" cy="4389120"/>
          </a:xfrm>
          <a:prstGeom prst="roundRect">
            <a:avLst/>
          </a:prstGeom>
          <a:solidFill>
            <a:srgbClr val="EEFAF2"/>
          </a:solidFill>
          <a:ln w="19050">
            <a:solidFill>
              <a:srgbClr val="102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FE08A"/>
                </a:solidFill>
                <a:latin typeface="Calibri"/>
                <a:ea typeface="Calibri"/>
              </a:rPr>
              <a:t>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Paired malloc / free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2D board allocation order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Free from inner → outer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Valgrind for leaks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566160" cy="4389120"/>
          </a:xfrm>
          <a:prstGeom prst="roundRect">
            <a:avLst/>
          </a:prstGeom>
          <a:solidFill>
            <a:srgbClr val="EEFAF2"/>
          </a:solidFill>
          <a:ln w="19050">
            <a:solidFill>
              <a:srgbClr val="102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241C"/>
                </a:solidFill>
                <a:latin typeface="Calibri"/>
                <a:ea typeface="Calibri"/>
              </a:rPr>
              <a:t>Data Structures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9164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game_t / snake_t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Char grid for snake body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Direction codes wasd / WASD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Multi-snake numbering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566160" cy="4389120"/>
          </a:xfrm>
          <a:prstGeom prst="roundRect">
            <a:avLst/>
          </a:prstGeom>
          <a:solidFill>
            <a:srgbClr val="EEFAF2"/>
          </a:solidFill>
          <a:ln w="19050">
            <a:solidFill>
              <a:srgbClr val="102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25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4F6D"/>
                </a:solidFill>
                <a:latin typeface="Calibri"/>
                <a:ea typeface="Calibri"/>
              </a:rP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Makefile builds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Unit + integration tests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gdb / assert debugging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Port rules to the web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C52"/>
                </a:solidFill>
                <a:latin typeface="Calibri"/>
                <a:ea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41C"/>
                </a:solidFill>
                <a:latin typeface="Calibri"/>
                <a:ea typeface="Calibri"/>
              </a:rPr>
              <a:t>Board Character Legend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#  wall    ·  (space) empty    ·  *  fruit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Tail wasd  ·  Body ^ &lt; v &gt;  ·  Live head W A S D  ·  Dead head x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Directions: w/^ up · a/&lt; left · s/v down · d/&gt; right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Snakes numbered by tail order (top→bottom, left→right); IDs stay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2C"/>
                </a:solidFill>
                <a:latin typeface="Consolas"/>
                <a:ea typeface="Consolas"/>
              </a:rPr>
              <a:t>Default board (snippet):</a:t>
            </a:r>
          </a:p>
          <a:p>
            <a:r>
              <a:rPr sz="1500" b="0">
                <a:solidFill>
                  <a:srgbClr val="10241C"/>
                </a:solidFill>
                <a:latin typeface="Consolas"/>
                <a:ea typeface="Consolas"/>
              </a:rPr>
              <a:t>####################</a:t>
            </a:r>
          </a:p>
          <a:p>
            <a:r>
              <a:rPr sz="1500" b="0">
                <a:solidFill>
                  <a:srgbClr val="10241C"/>
                </a:solidFill>
                <a:latin typeface="Consolas"/>
                <a:ea typeface="Consolas"/>
              </a:rPr>
              <a:t>#                  #</a:t>
            </a:r>
          </a:p>
          <a:p>
            <a:r>
              <a:rPr sz="1500" b="0">
                <a:solidFill>
                  <a:srgbClr val="10241C"/>
                </a:solidFill>
                <a:latin typeface="Consolas"/>
                <a:ea typeface="Consolas"/>
              </a:rPr>
              <a:t>#  d&gt;D    *        #</a:t>
            </a:r>
          </a:p>
          <a:p>
            <a:r>
              <a:rPr sz="1500" b="0">
                <a:solidFill>
                  <a:srgbClr val="10241C"/>
                </a:solidFill>
                <a:latin typeface="Consolas"/>
                <a:ea typeface="Consolas"/>
              </a:rPr>
              <a:t>#                  #</a:t>
            </a:r>
          </a:p>
          <a:p>
            <a:r>
              <a:rPr sz="1500" b="0">
                <a:solidFill>
                  <a:srgbClr val="10241C"/>
                </a:solidFill>
                <a:latin typeface="Consolas"/>
                <a:ea typeface="Consolas"/>
              </a:rPr>
              <a:t>####################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C52"/>
                </a:solidFill>
                <a:latin typeface="Calibri"/>
                <a:ea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41C"/>
                </a:solidFill>
                <a:latin typeface="Calibri"/>
                <a:ea typeface="Calibri"/>
              </a:rPr>
              <a:t>One-Timestep Update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Each live snake moves one cell in its head direction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Hit wall # or snake body → die; head becomes x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Eat fruit * → update head only (grow) and spawn new fruit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Move onto empty space → update head + update tail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C: update_game()  ·  Web: same rules ported to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C52"/>
                </a:solidFill>
                <a:latin typeface="Calibri"/>
                <a:ea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41C"/>
                </a:solidFill>
                <a:latin typeface="Calibri"/>
                <a:ea typeface="Calibri"/>
              </a:rPr>
              <a:t>Core Data Structures (game.h)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typedef struct snake_t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  unsigned int tail_row, tail_col;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  unsigned int head_row, head_col;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  bool live;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} snake_t;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typedef struct game_t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  unsigned int num_rows;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  char **board;          // each row: chars + '\n' + '\0'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  unsigned int num_snakes;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  snake_t *snakes;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0241C"/>
                </a:solidFill>
                <a:latin typeface="Consolas"/>
                <a:ea typeface="Consolas"/>
              </a:rPr>
              <a:t>} game_t;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C52"/>
                </a:solidFill>
                <a:latin typeface="Calibri"/>
                <a:ea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41C"/>
                </a:solidFill>
                <a:latin typeface="Calibri"/>
                <a:ea typeface="Calibri"/>
              </a:rPr>
              <a:t>C Task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611880" cy="2286000"/>
          </a:xfrm>
          <a:prstGeom prst="roundRect">
            <a:avLst/>
          </a:prstGeom>
          <a:solidFill>
            <a:srgbClr val="EEFAF2"/>
          </a:solidFill>
          <a:ln w="19050">
            <a:solidFill>
              <a:srgbClr val="102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241C"/>
                </a:solidFill>
                <a:latin typeface="Calibri"/>
                <a:ea typeface="Calibri"/>
              </a:rPr>
              <a:t>Task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create_default_game / free_game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Heap-allocate default game · free correctly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43000"/>
            <a:ext cx="3611880" cy="2286000"/>
          </a:xfrm>
          <a:prstGeom prst="roundRect">
            <a:avLst/>
          </a:prstGeom>
          <a:solidFill>
            <a:srgbClr val="EEFAF2"/>
          </a:solidFill>
          <a:ln w="19050">
            <a:solidFill>
              <a:srgbClr val="102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2801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241C"/>
                </a:solidFill>
                <a:latin typeface="Calibri"/>
                <a:ea typeface="Calibri"/>
              </a:rPr>
              <a:t>Task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print_board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Print each board row to a FILE*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143000"/>
            <a:ext cx="3611880" cy="2286000"/>
          </a:xfrm>
          <a:prstGeom prst="roundRect">
            <a:avLst/>
          </a:prstGeom>
          <a:solidFill>
            <a:srgbClr val="EEFAF2"/>
          </a:solidFill>
          <a:ln w="19050">
            <a:solidFill>
              <a:srgbClr val="102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2801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241C"/>
                </a:solidFill>
                <a:latin typeface="Calibri"/>
                <a:ea typeface="Calibri"/>
              </a:rPr>
              <a:t>Task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64592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update_game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Move / eat / death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3611880" cy="2286000"/>
          </a:xfrm>
          <a:prstGeom prst="roundRect">
            <a:avLst/>
          </a:prstGeom>
          <a:solidFill>
            <a:srgbClr val="EEFAF2"/>
          </a:solidFill>
          <a:ln w="19050">
            <a:solidFill>
              <a:srgbClr val="102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241C"/>
                </a:solidFill>
                <a:latin typeface="Calibri"/>
                <a:ea typeface="Calibri"/>
              </a:rPr>
              <a:t>Task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read_line / load_board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Dynamically load any-size 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03320"/>
            <a:ext cx="3611880" cy="2286000"/>
          </a:xfrm>
          <a:prstGeom prst="roundRect">
            <a:avLst/>
          </a:prstGeom>
          <a:solidFill>
            <a:srgbClr val="EEFAF2"/>
          </a:solidFill>
          <a:ln w="19050">
            <a:solidFill>
              <a:srgbClr val="102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8404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241C"/>
                </a:solidFill>
                <a:latin typeface="Calibri"/>
                <a:ea typeface="Calibri"/>
              </a:rPr>
              <a:t>Task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find_head / initialize_snakes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Scan tails and trace heads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703320"/>
            <a:ext cx="3611880" cy="2286000"/>
          </a:xfrm>
          <a:prstGeom prst="roundRect">
            <a:avLst/>
          </a:prstGeom>
          <a:solidFill>
            <a:srgbClr val="EEFAF2"/>
          </a:solidFill>
          <a:ln w="19050">
            <a:solidFill>
              <a:srgbClr val="102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8404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0241C"/>
                </a:solidFill>
                <a:latin typeface="Calibri"/>
                <a:ea typeface="Calibri"/>
              </a:rPr>
              <a:t>Task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2062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snake.c main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3A2C"/>
                </a:solidFill>
                <a:latin typeface="Calibri"/>
                <a:ea typeface="Calibri"/>
              </a:rPr>
              <a:t>CLI: load → update → 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C52"/>
                </a:solidFill>
                <a:latin typeface="Calibri"/>
                <a:ea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41C"/>
                </a:solidFill>
                <a:latin typeface="Calibri"/>
                <a:ea typeface="Calibri"/>
              </a:rPr>
              <a:t>Testing &amp;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3A2C"/>
                </a:solidFill>
                <a:latin typeface="Calibri"/>
                <a:ea typeface="Calibri"/>
              </a:rPr>
              <a:t>• make unit-tests &amp;&amp; ./unit-tests  — per-task unit tests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3A2C"/>
                </a:solidFill>
                <a:latin typeface="Calibri"/>
                <a:ea typeface="Calibri"/>
              </a:rPr>
              <a:t>• make valgrind-test-free-game  — check free_game for leaks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3A2C"/>
                </a:solidFill>
                <a:latin typeface="Calibri"/>
                <a:ea typeface="Calibri"/>
              </a:rPr>
              <a:t>• make run-integration-tests  — diff against tests/*-ref.snk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3A2C"/>
                </a:solidFill>
                <a:latin typeface="Calibri"/>
                <a:ea typeface="Calibri"/>
              </a:rPr>
              <a:t>• Common pitfalls: rows need '\n'+'\0'; free order; fgetc returns int; realloc growth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3A2C"/>
                </a:solidFill>
                <a:latin typeface="Calibri"/>
                <a:ea typeface="Calibri"/>
              </a:rPr>
              <a:t>• Tools: -Wconversion warnings, Valgrind, board dump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C52"/>
                </a:solidFill>
                <a:latin typeface="Calibri"/>
                <a:ea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41C"/>
                </a:solidFill>
                <a:latin typeface="Calibri"/>
                <a:ea typeface="Calibri"/>
              </a:rPr>
              <a:t>Web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web/: C rules ported to JavaScript (game.js)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Canvas rendering + four direction buttons (Up / Left / Down / Right)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Keyboard WASD / arrows · [ ] speed · Space pause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Run: cd web &amp;&amp; python -m http.server 8000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Open http://localhost:8000 to 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C52"/>
                </a:solidFill>
                <a:latin typeface="Calibri"/>
                <a:ea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41C"/>
                </a:solidFill>
                <a:latin typeface="Calibri"/>
                <a:ea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snek ties core C skills into one complete, testable mini-game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Covers structs, heap memory, file loading, and state updates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Test-driven workflow (unit + integration + Valgrind) checks correctness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Web version shows the same rules can be reused and visualized cross-language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3A2C"/>
                </a:solidFill>
                <a:latin typeface="Calibri"/>
                <a:ea typeface="Calibri"/>
              </a:rPr>
              <a:t>• Next: deepen understanding of pointer aliasing, edge cases, and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1C"/>
                </a:solidFill>
                <a:latin typeface="Calibri"/>
                <a:ea typeface="Calibri"/>
              </a:rPr>
              <a:t>Thanks · 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C52"/>
                </a:solidFill>
                <a:latin typeface="Calibri"/>
                <a:ea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